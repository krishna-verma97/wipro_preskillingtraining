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libri (MS)" panose="020B0604020202020204" charset="0"/>
      <p:regular r:id="rId18"/>
    </p:embeddedFon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HK Grotesk" panose="020B0604020202020204" charset="0"/>
      <p:regular r:id="rId21"/>
    </p:embeddedFont>
    <p:embeddedFont>
      <p:font typeface="HK Grotesk Bold" panose="020B0604020202020204" charset="0"/>
      <p:regular r:id="rId22"/>
    </p:embeddedFont>
    <p:embeddedFont>
      <p:font typeface="HK Grotesk Light" panose="020B0604020202020204" charset="0"/>
      <p:regular r:id="rId23"/>
    </p:embeddedFont>
    <p:embeddedFont>
      <p:font typeface="Montserrat" panose="00000500000000000000" pitchFamily="2" charset="0"/>
      <p:regular r:id="rId24"/>
    </p:embeddedFont>
    <p:embeddedFont>
      <p:font typeface="Montserrat Bold" panose="00000800000000000000" charset="0"/>
      <p:regular r:id="rId25"/>
    </p:embeddedFont>
    <p:embeddedFont>
      <p:font typeface="Montserrat Ultra-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47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6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9340" y="356504"/>
            <a:ext cx="1818466" cy="1183049"/>
            <a:chOff x="0" y="0"/>
            <a:chExt cx="2424622" cy="1577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24684" cy="1577340"/>
            </a:xfrm>
            <a:custGeom>
              <a:avLst/>
              <a:gdLst/>
              <a:ahLst/>
              <a:cxnLst/>
              <a:rect l="l" t="t" r="r" b="b"/>
              <a:pathLst>
                <a:path w="2424684" h="1577340">
                  <a:moveTo>
                    <a:pt x="0" y="0"/>
                  </a:moveTo>
                  <a:lnTo>
                    <a:pt x="2424684" y="0"/>
                  </a:lnTo>
                  <a:lnTo>
                    <a:pt x="2424684" y="1577340"/>
                  </a:lnTo>
                  <a:lnTo>
                    <a:pt x="0" y="1577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88" b="-2549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49340" y="1646030"/>
            <a:ext cx="17333278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4200">
                <a:solidFill>
                  <a:srgbClr val="FCFCFC"/>
                </a:solidFill>
                <a:latin typeface="Calibri (MS)"/>
                <a:ea typeface="Calibri (MS)"/>
                <a:cs typeface="Calibri (MS)"/>
                <a:sym typeface="Calibri (MS)"/>
              </a:rPr>
              <a:t>WIPRO NGA Program –  DWS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9339" y="3950422"/>
            <a:ext cx="10170478" cy="874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8"/>
              </a:lnSpc>
            </a:pPr>
            <a:r>
              <a:rPr lang="en-US" sz="3600">
                <a:solidFill>
                  <a:srgbClr val="FCFCFC"/>
                </a:solidFill>
                <a:latin typeface="HK Grotesk"/>
                <a:ea typeface="HK Grotesk"/>
                <a:cs typeface="HK Grotesk"/>
                <a:sym typeface="HK Grotesk"/>
              </a:rPr>
              <a:t>Capstone Project Presentation – 4th September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92200" y="9334500"/>
            <a:ext cx="6259402" cy="38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1999" b="1" spc="199">
                <a:solidFill>
                  <a:srgbClr val="FCFC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www.rpsconsulting.in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9339" y="7328563"/>
            <a:ext cx="10170478" cy="176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08"/>
              </a:lnSpc>
            </a:pPr>
            <a:r>
              <a:rPr lang="en-US" sz="3600" dirty="0">
                <a:solidFill>
                  <a:srgbClr val="FCFCFC"/>
                </a:solidFill>
                <a:latin typeface="HK Grotesk"/>
                <a:ea typeface="HK Grotesk"/>
                <a:cs typeface="HK Grotesk"/>
                <a:sym typeface="HK Grotesk"/>
              </a:rPr>
              <a:t>Presented by - </a:t>
            </a:r>
          </a:p>
          <a:p>
            <a:pPr algn="just">
              <a:lnSpc>
                <a:spcPts val="4608"/>
              </a:lnSpc>
            </a:pPr>
            <a:r>
              <a:rPr lang="en-US" sz="3600" dirty="0">
                <a:solidFill>
                  <a:srgbClr val="FCFCFC"/>
                </a:solidFill>
                <a:latin typeface="HK Grotesk"/>
                <a:ea typeface="HK Grotesk"/>
                <a:cs typeface="HK Grotesk"/>
                <a:sym typeface="HK Grotesk"/>
              </a:rPr>
              <a:t>34851-Krishna Verma</a:t>
            </a:r>
          </a:p>
          <a:p>
            <a:pPr algn="just">
              <a:lnSpc>
                <a:spcPts val="4608"/>
              </a:lnSpc>
            </a:pPr>
            <a:r>
              <a:rPr lang="en-US" sz="2800" dirty="0">
                <a:solidFill>
                  <a:srgbClr val="FCFCFC"/>
                </a:solidFill>
                <a:latin typeface="HK Grotesk"/>
                <a:ea typeface="HK Grotesk"/>
                <a:cs typeface="HK Grotesk"/>
                <a:sym typeface="HK Grotesk"/>
              </a:rPr>
              <a:t>Email: kv979539g@gmail.com</a:t>
            </a:r>
            <a:endParaRPr lang="en-US" sz="3600" dirty="0">
              <a:solidFill>
                <a:srgbClr val="FCFCFC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49339" y="5625108"/>
            <a:ext cx="10170478" cy="874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8"/>
              </a:lnSpc>
            </a:pPr>
            <a:r>
              <a:rPr lang="en-US" sz="3600" dirty="0">
                <a:solidFill>
                  <a:srgbClr val="FCFCFC"/>
                </a:solidFill>
                <a:latin typeface="HK Grotesk"/>
                <a:ea typeface="HK Grotesk"/>
                <a:cs typeface="HK Grotesk"/>
                <a:sym typeface="HK Grotesk"/>
              </a:rPr>
              <a:t>Title: Repackaging an Application with Separate Registry Keys.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04936" y="2583199"/>
            <a:ext cx="5120602" cy="5120602"/>
          </a:xfrm>
          <a:custGeom>
            <a:avLst/>
            <a:gdLst/>
            <a:ahLst/>
            <a:cxnLst/>
            <a:rect l="l" t="t" r="r" b="b"/>
            <a:pathLst>
              <a:path w="5120602" h="5120602">
                <a:moveTo>
                  <a:pt x="0" y="0"/>
                </a:moveTo>
                <a:lnTo>
                  <a:pt x="5120602" y="0"/>
                </a:lnTo>
                <a:lnTo>
                  <a:pt x="5120602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51483" y="4398619"/>
            <a:ext cx="13774054" cy="1689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1"/>
              </a:lnSpc>
            </a:pPr>
            <a:r>
              <a:rPr lang="en-US" sz="7101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</a:t>
            </a:r>
          </a:p>
          <a:p>
            <a:pPr algn="l">
              <a:lnSpc>
                <a:spcPts val="6391"/>
              </a:lnSpc>
            </a:pPr>
            <a:r>
              <a:rPr lang="en-US" sz="7101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REPACKAGING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6" name="Freeform 6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4" b="-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430391"/>
            <a:ext cx="18449255" cy="714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4"/>
              </a:lnSpc>
            </a:pPr>
            <a:r>
              <a:rPr lang="en-US" sz="5364" b="1">
                <a:solidFill>
                  <a:srgbClr val="0186C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57573"/>
            <a:ext cx="11580675" cy="380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9"/>
              </a:lnSpc>
            </a:pPr>
            <a:r>
              <a:rPr lang="en-US" sz="375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With this presentation, we will be seeing that how could we use </a:t>
            </a:r>
            <a:r>
              <a:rPr lang="en-US" sz="3754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 Installer </a:t>
            </a:r>
            <a:r>
              <a:rPr lang="en-US" sz="375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to customize and</a:t>
            </a:r>
            <a:r>
              <a:rPr lang="en-US" sz="3754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Re-Pack</a:t>
            </a:r>
            <a:r>
              <a:rPr lang="en-US" sz="375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 an existing application to configure manually defined registry keys automatically during installation.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6" name="Freeform 6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430391"/>
            <a:ext cx="18384867" cy="1388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4"/>
              </a:lnSpc>
            </a:pPr>
            <a:r>
              <a:rPr lang="en-US" sz="5364" b="1">
                <a:solidFill>
                  <a:srgbClr val="0186C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WHAT IS APPLICATION</a:t>
            </a:r>
          </a:p>
          <a:p>
            <a:pPr algn="l">
              <a:lnSpc>
                <a:spcPts val="5364"/>
              </a:lnSpc>
            </a:pPr>
            <a:r>
              <a:rPr lang="en-US" sz="5364" b="1">
                <a:solidFill>
                  <a:srgbClr val="0186C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REPACKAGING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09948"/>
            <a:ext cx="13061601" cy="331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2"/>
              </a:lnSpc>
            </a:pPr>
            <a:r>
              <a:rPr lang="en-US" sz="375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The process of converting an existing software installer (an </a:t>
            </a:r>
            <a:r>
              <a:rPr lang="en-US" sz="3754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</a:t>
            </a:r>
            <a:r>
              <a:rPr lang="en-US" sz="375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) into a new, </a:t>
            </a:r>
            <a:r>
              <a:rPr lang="en-US" sz="3754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 installer format </a:t>
            </a:r>
            <a:r>
              <a:rPr lang="en-US" sz="375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(an </a:t>
            </a:r>
            <a:r>
              <a:rPr lang="en-US" sz="3754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MSI</a:t>
            </a:r>
            <a:r>
              <a:rPr lang="en-US" sz="375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) that meets specific corporate deployment standards.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6" name="Freeform 6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81100"/>
            <a:ext cx="9358278" cy="106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1">
                <a:solidFill>
                  <a:srgbClr val="0186C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BENEFITS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85386"/>
            <a:ext cx="14063833" cy="5484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1119" lvl="1" indent="-335560" algn="l">
              <a:lnSpc>
                <a:spcPts val="4755"/>
              </a:lnSpc>
              <a:buFont typeface="Arial"/>
              <a:buChar char="•"/>
            </a:pPr>
            <a:r>
              <a:rPr lang="en-US" sz="3108" b="1" dirty="0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Standardization</a:t>
            </a:r>
            <a:r>
              <a:rPr lang="en-US" sz="3108" dirty="0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: Deploy applications on a large number of devices within an organization without the manual human intervention.</a:t>
            </a:r>
          </a:p>
          <a:p>
            <a:pPr algn="l">
              <a:lnSpc>
                <a:spcPts val="4755"/>
              </a:lnSpc>
            </a:pPr>
            <a:endParaRPr lang="en-US" sz="3108" dirty="0">
              <a:solidFill>
                <a:srgbClr val="0186C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71119" lvl="1" indent="-335560" algn="l">
              <a:lnSpc>
                <a:spcPts val="4755"/>
              </a:lnSpc>
              <a:buFont typeface="Arial"/>
              <a:buChar char="•"/>
            </a:pPr>
            <a:r>
              <a:rPr lang="en-US" sz="3108" b="1" dirty="0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Customization</a:t>
            </a:r>
            <a:r>
              <a:rPr lang="en-US" sz="3108" dirty="0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: Add or remove features needed according to the organization.</a:t>
            </a:r>
          </a:p>
          <a:p>
            <a:pPr algn="l">
              <a:lnSpc>
                <a:spcPts val="4755"/>
              </a:lnSpc>
            </a:pPr>
            <a:endParaRPr lang="en-US" sz="3108" dirty="0">
              <a:solidFill>
                <a:srgbClr val="0186C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71119" lvl="1" indent="-335560" algn="l">
              <a:lnSpc>
                <a:spcPts val="4755"/>
              </a:lnSpc>
              <a:buFont typeface="Arial"/>
              <a:buChar char="•"/>
            </a:pPr>
            <a:r>
              <a:rPr lang="en-US" sz="3108" b="1" dirty="0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Troubleshooting &amp; Compatibility</a:t>
            </a:r>
            <a:r>
              <a:rPr lang="en-US" sz="3108" dirty="0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: Repackaging helps to troubleshoot and fix most common </a:t>
            </a:r>
            <a:r>
              <a:rPr lang="en-US" sz="3108" dirty="0" err="1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compatability</a:t>
            </a:r>
            <a:r>
              <a:rPr lang="en-US" sz="3108" dirty="0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 issues with an application.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6" name="Freeform 6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5832" y="942975"/>
            <a:ext cx="15923119" cy="1346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8"/>
              </a:lnSpc>
            </a:pPr>
            <a:r>
              <a:rPr lang="en-US" sz="3802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Objective: </a:t>
            </a:r>
            <a:r>
              <a:rPr lang="en-US" sz="3802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Repackaging an Application with Separate Registry Keys.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5832" y="3581691"/>
            <a:ext cx="14875353" cy="4229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4"/>
              </a:lnSpc>
            </a:pPr>
            <a:r>
              <a:rPr lang="en-US" sz="3514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Prerequisites: </a:t>
            </a:r>
          </a:p>
          <a:p>
            <a:pPr algn="just">
              <a:lnSpc>
                <a:spcPts val="3514"/>
              </a:lnSpc>
            </a:pPr>
            <a:endParaRPr lang="en-US" sz="3514" b="1">
              <a:solidFill>
                <a:srgbClr val="0186C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758687" lvl="1" indent="-379343" algn="just">
              <a:lnSpc>
                <a:spcPts val="5552"/>
              </a:lnSpc>
              <a:buAutoNum type="arabicPeriod"/>
            </a:pPr>
            <a:r>
              <a:rPr lang="en-US" sz="3514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 Installer &amp; Reinstaller</a:t>
            </a:r>
            <a:r>
              <a:rPr lang="en-US" sz="351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 Package.</a:t>
            </a:r>
          </a:p>
          <a:p>
            <a:pPr marL="758687" lvl="1" indent="-379343" algn="just">
              <a:lnSpc>
                <a:spcPts val="5552"/>
              </a:lnSpc>
              <a:buAutoNum type="arabicPeriod"/>
            </a:pPr>
            <a:r>
              <a:rPr lang="en-US" sz="351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3514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</a:t>
            </a:r>
            <a:r>
              <a:rPr lang="en-US" sz="351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 which is to be repackaged- </a:t>
            </a:r>
            <a:r>
              <a:rPr lang="en-US" sz="3514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CloudFlare WARP</a:t>
            </a:r>
          </a:p>
          <a:p>
            <a:pPr marL="758687" lvl="1" indent="-379343" algn="just">
              <a:lnSpc>
                <a:spcPts val="5552"/>
              </a:lnSpc>
              <a:buAutoNum type="arabicPeriod"/>
            </a:pPr>
            <a:r>
              <a:rPr lang="en-US" sz="351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Clean </a:t>
            </a:r>
            <a:r>
              <a:rPr lang="en-US" sz="3514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Virtual Machine</a:t>
            </a:r>
            <a:r>
              <a:rPr lang="en-US" sz="351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 to perform the Activity.</a:t>
            </a:r>
          </a:p>
          <a:p>
            <a:pPr marL="758687" lvl="1" indent="-379343" algn="just">
              <a:lnSpc>
                <a:spcPts val="5552"/>
              </a:lnSpc>
              <a:buAutoNum type="arabicPeriod"/>
            </a:pPr>
            <a:r>
              <a:rPr lang="en-US" sz="351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Access to </a:t>
            </a:r>
            <a:r>
              <a:rPr lang="en-US" sz="3514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Windows Registry Editor</a:t>
            </a:r>
          </a:p>
          <a:p>
            <a:pPr algn="just">
              <a:lnSpc>
                <a:spcPts val="4014"/>
              </a:lnSpc>
            </a:pPr>
            <a:endParaRPr lang="en-US" sz="3514" b="1">
              <a:solidFill>
                <a:srgbClr val="0186C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6" name="Freeform 6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33450"/>
            <a:ext cx="15923119" cy="75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3"/>
              </a:lnSpc>
            </a:pPr>
            <a:r>
              <a:rPr lang="en-US" sz="4302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Minimum System Requirements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5832" y="1989607"/>
            <a:ext cx="14875353" cy="611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endParaRPr/>
          </a:p>
          <a:p>
            <a:pPr algn="l">
              <a:lnSpc>
                <a:spcPts val="5400"/>
              </a:lnSpc>
            </a:pPr>
            <a:r>
              <a:rPr lang="en-US" sz="3000" b="1" spc="17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CPU: </a:t>
            </a:r>
            <a:r>
              <a:rPr lang="en-US" sz="3000" spc="171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A Core 2 class processor or equivalent is the baseline.</a:t>
            </a:r>
          </a:p>
          <a:p>
            <a:pPr algn="l">
              <a:lnSpc>
                <a:spcPts val="5400"/>
              </a:lnSpc>
            </a:pPr>
            <a:r>
              <a:rPr lang="en-US" sz="3000" b="1" spc="17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RAM: </a:t>
            </a:r>
            <a:r>
              <a:rPr lang="en-US" sz="3000" spc="171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You need at least 1 GB of RAM to run the application.</a:t>
            </a:r>
          </a:p>
          <a:p>
            <a:pPr algn="l">
              <a:lnSpc>
                <a:spcPts val="5400"/>
              </a:lnSpc>
            </a:pPr>
            <a:r>
              <a:rPr lang="en-US" sz="3000" b="1" spc="17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Storage:</a:t>
            </a:r>
            <a:r>
              <a:rPr lang="en-US" sz="3000" spc="171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 A minimum of 2 GB of free hard drive space is required for installation and operation.</a:t>
            </a:r>
          </a:p>
          <a:p>
            <a:pPr algn="l">
              <a:lnSpc>
                <a:spcPts val="5400"/>
              </a:lnSpc>
            </a:pPr>
            <a:r>
              <a:rPr lang="en-US" sz="3000" b="1" spc="17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Display: </a:t>
            </a:r>
            <a:r>
              <a:rPr lang="en-US" sz="3000" spc="171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The minimum supported screen resolution is 1366x768.</a:t>
            </a:r>
          </a:p>
          <a:p>
            <a:pPr algn="just">
              <a:lnSpc>
                <a:spcPts val="5400"/>
              </a:lnSpc>
            </a:pPr>
            <a:r>
              <a:rPr lang="en-US" sz="3000" b="1" spc="17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Operating System: </a:t>
            </a:r>
            <a:r>
              <a:rPr lang="en-US" sz="3000" spc="171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Advanced Installer requires Windows 10 or newer to run.</a:t>
            </a:r>
          </a:p>
          <a:p>
            <a:pPr algn="just">
              <a:lnSpc>
                <a:spcPts val="5400"/>
              </a:lnSpc>
            </a:pPr>
            <a:endParaRPr lang="en-US" sz="3000" spc="171">
              <a:solidFill>
                <a:srgbClr val="0186C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6" name="Freeform 6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5832" y="605768"/>
            <a:ext cx="15923119" cy="75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3"/>
              </a:lnSpc>
            </a:pPr>
            <a:r>
              <a:rPr lang="en-US" sz="4302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Workflow Diagram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17921" y="1826310"/>
            <a:ext cx="16250900" cy="6313313"/>
            <a:chOff x="0" y="0"/>
            <a:chExt cx="21667867" cy="841775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3496701" cy="3496701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86CB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FCFCFC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Verify all the prerequisites and Start with a clean Virtual Machine</a:t>
                </a: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5144874" y="447648"/>
              <a:ext cx="4422291" cy="3049053"/>
              <a:chOff x="0" y="0"/>
              <a:chExt cx="873539" cy="60228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3539" cy="602282"/>
              </a:xfrm>
              <a:custGeom>
                <a:avLst/>
                <a:gdLst/>
                <a:ahLst/>
                <a:cxnLst/>
                <a:rect l="l" t="t" r="r" b="b"/>
                <a:pathLst>
                  <a:path w="873539" h="602282">
                    <a:moveTo>
                      <a:pt x="0" y="0"/>
                    </a:moveTo>
                    <a:lnTo>
                      <a:pt x="873539" y="0"/>
                    </a:lnTo>
                    <a:lnTo>
                      <a:pt x="873539" y="602282"/>
                    </a:lnTo>
                    <a:lnTo>
                      <a:pt x="0" y="602282"/>
                    </a:lnTo>
                    <a:close/>
                  </a:path>
                </a:pathLst>
              </a:custGeom>
              <a:solidFill>
                <a:srgbClr val="0186CB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873539" cy="697532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just">
                  <a:lnSpc>
                    <a:spcPts val="3286"/>
                  </a:lnSpc>
                </a:pPr>
                <a:r>
                  <a:rPr lang="en-US" sz="1899">
                    <a:solidFill>
                      <a:srgbClr val="FCFCFC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Open the application in Advanced Repackager and take the initial snapshot</a:t>
                </a: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1215338" y="447648"/>
              <a:ext cx="4365112" cy="3049053"/>
              <a:chOff x="0" y="0"/>
              <a:chExt cx="862244" cy="60228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62244" cy="602282"/>
              </a:xfrm>
              <a:custGeom>
                <a:avLst/>
                <a:gdLst/>
                <a:ahLst/>
                <a:cxnLst/>
                <a:rect l="l" t="t" r="r" b="b"/>
                <a:pathLst>
                  <a:path w="862244" h="602282">
                    <a:moveTo>
                      <a:pt x="0" y="0"/>
                    </a:moveTo>
                    <a:lnTo>
                      <a:pt x="862244" y="0"/>
                    </a:lnTo>
                    <a:lnTo>
                      <a:pt x="862244" y="602282"/>
                    </a:lnTo>
                    <a:lnTo>
                      <a:pt x="0" y="602282"/>
                    </a:lnTo>
                    <a:close/>
                  </a:path>
                </a:pathLst>
              </a:custGeom>
              <a:solidFill>
                <a:srgbClr val="0186CB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95250"/>
                <a:ext cx="862244" cy="697532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just">
                  <a:lnSpc>
                    <a:spcPts val="3286"/>
                  </a:lnSpc>
                </a:pPr>
                <a:r>
                  <a:rPr lang="en-US" sz="1899">
                    <a:solidFill>
                      <a:srgbClr val="FCFCFC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Perform the Installation steps, finish it and take the final snapshot. 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7151043" y="446234"/>
              <a:ext cx="4516824" cy="3049053"/>
              <a:chOff x="0" y="0"/>
              <a:chExt cx="892212" cy="6022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92212" cy="602282"/>
              </a:xfrm>
              <a:custGeom>
                <a:avLst/>
                <a:gdLst/>
                <a:ahLst/>
                <a:cxnLst/>
                <a:rect l="l" t="t" r="r" b="b"/>
                <a:pathLst>
                  <a:path w="892212" h="602282">
                    <a:moveTo>
                      <a:pt x="0" y="0"/>
                    </a:moveTo>
                    <a:lnTo>
                      <a:pt x="892212" y="0"/>
                    </a:lnTo>
                    <a:lnTo>
                      <a:pt x="892212" y="602282"/>
                    </a:lnTo>
                    <a:lnTo>
                      <a:pt x="0" y="602282"/>
                    </a:lnTo>
                    <a:close/>
                  </a:path>
                </a:pathLst>
              </a:custGeom>
              <a:solidFill>
                <a:srgbClr val="0186CB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95250"/>
                <a:ext cx="892212" cy="697532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just">
                  <a:lnSpc>
                    <a:spcPts val="3286"/>
                  </a:lnSpc>
                </a:pPr>
                <a:r>
                  <a:rPr lang="en-US" sz="1899">
                    <a:solidFill>
                      <a:srgbClr val="FCFCFC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Review the changes it made and proceed to edit in Advanced Installer.</a:t>
                </a:r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9567165" y="1773751"/>
              <a:ext cx="164817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3496701" y="1748351"/>
              <a:ext cx="164817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8" name="AutoShape 18"/>
            <p:cNvSpPr/>
            <p:nvPr/>
          </p:nvSpPr>
          <p:spPr>
            <a:xfrm flipH="1">
              <a:off x="15580449" y="6669400"/>
              <a:ext cx="164817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15502871" y="1722951"/>
              <a:ext cx="164817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7254022" y="5119474"/>
              <a:ext cx="4413845" cy="3049053"/>
              <a:chOff x="0" y="0"/>
              <a:chExt cx="871871" cy="60228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71871" cy="602282"/>
              </a:xfrm>
              <a:custGeom>
                <a:avLst/>
                <a:gdLst/>
                <a:ahLst/>
                <a:cxnLst/>
                <a:rect l="l" t="t" r="r" b="b"/>
                <a:pathLst>
                  <a:path w="871871" h="602282">
                    <a:moveTo>
                      <a:pt x="0" y="0"/>
                    </a:moveTo>
                    <a:lnTo>
                      <a:pt x="871871" y="0"/>
                    </a:lnTo>
                    <a:lnTo>
                      <a:pt x="871871" y="602282"/>
                    </a:lnTo>
                    <a:lnTo>
                      <a:pt x="0" y="602282"/>
                    </a:lnTo>
                    <a:close/>
                  </a:path>
                </a:pathLst>
              </a:custGeom>
              <a:solidFill>
                <a:srgbClr val="0186CB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95250"/>
                <a:ext cx="871871" cy="697532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just">
                  <a:lnSpc>
                    <a:spcPts val="3286"/>
                  </a:lnSpc>
                </a:pPr>
                <a:r>
                  <a:rPr lang="en-US" sz="1899">
                    <a:solidFill>
                      <a:srgbClr val="FCFCFC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In the Registry Page, Add or Remove the registries entered by the app installation.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20534050" y="3496701"/>
              <a:ext cx="0" cy="1648173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1234773" y="5119474"/>
              <a:ext cx="4345677" cy="3049053"/>
              <a:chOff x="0" y="0"/>
              <a:chExt cx="858405" cy="60228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58405" cy="602282"/>
              </a:xfrm>
              <a:custGeom>
                <a:avLst/>
                <a:gdLst/>
                <a:ahLst/>
                <a:cxnLst/>
                <a:rect l="l" t="t" r="r" b="b"/>
                <a:pathLst>
                  <a:path w="858405" h="602282">
                    <a:moveTo>
                      <a:pt x="0" y="0"/>
                    </a:moveTo>
                    <a:lnTo>
                      <a:pt x="858405" y="0"/>
                    </a:lnTo>
                    <a:lnTo>
                      <a:pt x="858405" y="602282"/>
                    </a:lnTo>
                    <a:lnTo>
                      <a:pt x="0" y="602282"/>
                    </a:lnTo>
                    <a:close/>
                  </a:path>
                </a:pathLst>
              </a:custGeom>
              <a:solidFill>
                <a:srgbClr val="0186CB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95250"/>
                <a:ext cx="858405" cy="697532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just">
                  <a:lnSpc>
                    <a:spcPts val="3286"/>
                  </a:lnSpc>
                </a:pPr>
                <a:r>
                  <a:rPr lang="en-US" sz="1899">
                    <a:solidFill>
                      <a:srgbClr val="FCFCFC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Save the changes and proceed to the Home page to Build the app package.</a:t>
                </a:r>
              </a:p>
            </p:txBody>
          </p:sp>
        </p:grpSp>
        <p:sp>
          <p:nvSpPr>
            <p:cNvPr id="27" name="AutoShape 27"/>
            <p:cNvSpPr/>
            <p:nvPr/>
          </p:nvSpPr>
          <p:spPr>
            <a:xfrm flipH="1">
              <a:off x="9567165" y="6720200"/>
              <a:ext cx="164817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5144874" y="5119474"/>
              <a:ext cx="4422291" cy="3049053"/>
              <a:chOff x="0" y="0"/>
              <a:chExt cx="873539" cy="60228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73539" cy="602282"/>
              </a:xfrm>
              <a:custGeom>
                <a:avLst/>
                <a:gdLst/>
                <a:ahLst/>
                <a:cxnLst/>
                <a:rect l="l" t="t" r="r" b="b"/>
                <a:pathLst>
                  <a:path w="873539" h="602282">
                    <a:moveTo>
                      <a:pt x="0" y="0"/>
                    </a:moveTo>
                    <a:lnTo>
                      <a:pt x="873539" y="0"/>
                    </a:lnTo>
                    <a:lnTo>
                      <a:pt x="873539" y="602282"/>
                    </a:lnTo>
                    <a:lnTo>
                      <a:pt x="0" y="602282"/>
                    </a:lnTo>
                    <a:close/>
                  </a:path>
                </a:pathLst>
              </a:custGeom>
              <a:solidFill>
                <a:srgbClr val="0186CB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95250"/>
                <a:ext cx="873539" cy="697532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just">
                  <a:lnSpc>
                    <a:spcPts val="3286"/>
                  </a:lnSpc>
                </a:pPr>
                <a:r>
                  <a:rPr lang="en-US" sz="1899">
                    <a:solidFill>
                      <a:srgbClr val="FCFCFC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Run the new installer in New device and ensure that the configured settings are working.</a:t>
                </a:r>
              </a:p>
            </p:txBody>
          </p:sp>
        </p:grpSp>
        <p:sp>
          <p:nvSpPr>
            <p:cNvPr id="31" name="AutoShape 31"/>
            <p:cNvSpPr/>
            <p:nvPr/>
          </p:nvSpPr>
          <p:spPr>
            <a:xfrm flipH="1">
              <a:off x="3496701" y="6644000"/>
              <a:ext cx="164817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0" y="4921050"/>
              <a:ext cx="3496701" cy="3496701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86CB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  <a:spcBef>
                    <a:spcPct val="0"/>
                  </a:spcBef>
                </a:pPr>
                <a:r>
                  <a:rPr lang="en-US" sz="3699" b="1">
                    <a:solidFill>
                      <a:srgbClr val="FCFCFC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Finish</a:t>
                </a:r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37" name="Freeform 37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6"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41846"/>
            <a:ext cx="2726436" cy="440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33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STEPS: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id="4" name="Freeform 4"/>
          <p:cNvSpPr/>
          <p:nvPr/>
        </p:nvSpPr>
        <p:spPr>
          <a:xfrm>
            <a:off x="779880" y="1898953"/>
            <a:ext cx="8214208" cy="4410551"/>
          </a:xfrm>
          <a:custGeom>
            <a:avLst/>
            <a:gdLst/>
            <a:ahLst/>
            <a:cxnLst/>
            <a:rect l="l" t="t" r="r" b="b"/>
            <a:pathLst>
              <a:path w="8214208" h="4410551">
                <a:moveTo>
                  <a:pt x="0" y="0"/>
                </a:moveTo>
                <a:lnTo>
                  <a:pt x="8214208" y="0"/>
                </a:lnTo>
                <a:lnTo>
                  <a:pt x="8214208" y="4410550"/>
                </a:lnTo>
                <a:lnTo>
                  <a:pt x="0" y="4410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7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666134" y="1898953"/>
            <a:ext cx="8329845" cy="4487704"/>
          </a:xfrm>
          <a:custGeom>
            <a:avLst/>
            <a:gdLst/>
            <a:ahLst/>
            <a:cxnLst/>
            <a:rect l="l" t="t" r="r" b="b"/>
            <a:pathLst>
              <a:path w="8329845" h="4487704">
                <a:moveTo>
                  <a:pt x="0" y="0"/>
                </a:moveTo>
                <a:lnTo>
                  <a:pt x="8329844" y="0"/>
                </a:lnTo>
                <a:lnTo>
                  <a:pt x="8329844" y="4487704"/>
                </a:lnTo>
                <a:lnTo>
                  <a:pt x="0" y="448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62436" y="3499961"/>
            <a:ext cx="1252212" cy="430623"/>
            <a:chOff x="0" y="0"/>
            <a:chExt cx="329801" cy="1134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9801" cy="113415"/>
            </a:xfrm>
            <a:custGeom>
              <a:avLst/>
              <a:gdLst/>
              <a:ahLst/>
              <a:cxnLst/>
              <a:rect l="l" t="t" r="r" b="b"/>
              <a:pathLst>
                <a:path w="329801" h="113415">
                  <a:moveTo>
                    <a:pt x="0" y="0"/>
                  </a:moveTo>
                  <a:lnTo>
                    <a:pt x="329801" y="0"/>
                  </a:lnTo>
                  <a:lnTo>
                    <a:pt x="329801" y="113415"/>
                  </a:lnTo>
                  <a:lnTo>
                    <a:pt x="0" y="113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29801" cy="161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H="1">
            <a:off x="2114648" y="3696223"/>
            <a:ext cx="3843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0" name="Group 10"/>
          <p:cNvGrpSpPr/>
          <p:nvPr/>
        </p:nvGrpSpPr>
        <p:grpSpPr>
          <a:xfrm>
            <a:off x="4640584" y="2936844"/>
            <a:ext cx="1659957" cy="430623"/>
            <a:chOff x="0" y="0"/>
            <a:chExt cx="437190" cy="1134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7190" cy="113415"/>
            </a:xfrm>
            <a:custGeom>
              <a:avLst/>
              <a:gdLst/>
              <a:ahLst/>
              <a:cxnLst/>
              <a:rect l="l" t="t" r="r" b="b"/>
              <a:pathLst>
                <a:path w="437190" h="113415">
                  <a:moveTo>
                    <a:pt x="0" y="0"/>
                  </a:moveTo>
                  <a:lnTo>
                    <a:pt x="437190" y="0"/>
                  </a:lnTo>
                  <a:lnTo>
                    <a:pt x="437190" y="113415"/>
                  </a:lnTo>
                  <a:lnTo>
                    <a:pt x="0" y="113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42A28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37190" cy="161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H="1" flipV="1">
            <a:off x="5806734" y="3378406"/>
            <a:ext cx="236256" cy="336867"/>
          </a:xfrm>
          <a:prstGeom prst="line">
            <a:avLst/>
          </a:prstGeom>
          <a:ln w="38100" cap="flat">
            <a:solidFill>
              <a:srgbClr val="D42A2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TextBox 14"/>
          <p:cNvSpPr txBox="1"/>
          <p:nvPr/>
        </p:nvSpPr>
        <p:spPr>
          <a:xfrm>
            <a:off x="2499035" y="3497785"/>
            <a:ext cx="104013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spcBef>
                <a:spcPct val="0"/>
              </a:spcBef>
              <a:buAutoNum type="arabicPeriod"/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Click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90600" y="3611085"/>
            <a:ext cx="184181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D42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Double Click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221826" y="5084309"/>
            <a:ext cx="559819" cy="229200"/>
            <a:chOff x="0" y="0"/>
            <a:chExt cx="147442" cy="603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7442" cy="60365"/>
            </a:xfrm>
            <a:custGeom>
              <a:avLst/>
              <a:gdLst/>
              <a:ahLst/>
              <a:cxnLst/>
              <a:rect l="l" t="t" r="r" b="b"/>
              <a:pathLst>
                <a:path w="147442" h="60365">
                  <a:moveTo>
                    <a:pt x="0" y="0"/>
                  </a:moveTo>
                  <a:lnTo>
                    <a:pt x="147442" y="0"/>
                  </a:lnTo>
                  <a:lnTo>
                    <a:pt x="147442" y="60365"/>
                  </a:lnTo>
                  <a:lnTo>
                    <a:pt x="0" y="603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47442" cy="107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4350887" y="4688730"/>
            <a:ext cx="132818" cy="389430"/>
          </a:xfrm>
          <a:prstGeom prst="line">
            <a:avLst/>
          </a:prstGeom>
          <a:ln w="38100" cap="flat">
            <a:solidFill>
              <a:srgbClr val="D42A2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0" name="TextBox 20"/>
          <p:cNvSpPr txBox="1"/>
          <p:nvPr/>
        </p:nvSpPr>
        <p:spPr>
          <a:xfrm>
            <a:off x="1307538" y="7070927"/>
            <a:ext cx="5824879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just">
              <a:lnSpc>
                <a:spcPts val="2800"/>
              </a:lnSpc>
              <a:spcBef>
                <a:spcPct val="0"/>
              </a:spcBef>
              <a:buAutoNum type="arabicPeriod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Open the Advanced Repackager import your application  by clicking on Capture Setup.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18616" y="6881003"/>
            <a:ext cx="5824879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After importing the application, start installation it will capture all the changes occurred in the system while installation.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23" name="Freeform 23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-6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41846"/>
            <a:ext cx="2726436" cy="440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33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STEPS: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2098894"/>
            <a:ext cx="7958226" cy="4237755"/>
          </a:xfrm>
          <a:custGeom>
            <a:avLst/>
            <a:gdLst/>
            <a:ahLst/>
            <a:cxnLst/>
            <a:rect l="l" t="t" r="r" b="b"/>
            <a:pathLst>
              <a:path w="7958226" h="4237755">
                <a:moveTo>
                  <a:pt x="0" y="0"/>
                </a:moveTo>
                <a:lnTo>
                  <a:pt x="7958226" y="0"/>
                </a:lnTo>
                <a:lnTo>
                  <a:pt x="7958226" y="4237755"/>
                </a:lnTo>
                <a:lnTo>
                  <a:pt x="0" y="4237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119621" y="2400291"/>
            <a:ext cx="733158" cy="472995"/>
            <a:chOff x="0" y="0"/>
            <a:chExt cx="193095" cy="1245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3095" cy="124575"/>
            </a:xfrm>
            <a:custGeom>
              <a:avLst/>
              <a:gdLst/>
              <a:ahLst/>
              <a:cxnLst/>
              <a:rect l="l" t="t" r="r" b="b"/>
              <a:pathLst>
                <a:path w="193095" h="124575">
                  <a:moveTo>
                    <a:pt x="0" y="0"/>
                  </a:moveTo>
                  <a:lnTo>
                    <a:pt x="193095" y="0"/>
                  </a:lnTo>
                  <a:lnTo>
                    <a:pt x="193095" y="124575"/>
                  </a:lnTo>
                  <a:lnTo>
                    <a:pt x="0" y="1245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93095" cy="172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H="1" flipV="1">
            <a:off x="3505250" y="2873286"/>
            <a:ext cx="0" cy="5973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" name="Freeform 9"/>
          <p:cNvSpPr/>
          <p:nvPr/>
        </p:nvSpPr>
        <p:spPr>
          <a:xfrm>
            <a:off x="10170073" y="2098894"/>
            <a:ext cx="7780530" cy="4182035"/>
          </a:xfrm>
          <a:custGeom>
            <a:avLst/>
            <a:gdLst/>
            <a:ahLst/>
            <a:cxnLst/>
            <a:rect l="l" t="t" r="r" b="b"/>
            <a:pathLst>
              <a:path w="7780530" h="4182035">
                <a:moveTo>
                  <a:pt x="0" y="0"/>
                </a:moveTo>
                <a:lnTo>
                  <a:pt x="7780530" y="0"/>
                </a:lnTo>
                <a:lnTo>
                  <a:pt x="7780530" y="4182034"/>
                </a:lnTo>
                <a:lnTo>
                  <a:pt x="0" y="4182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170073" y="4574130"/>
            <a:ext cx="881732" cy="241581"/>
            <a:chOff x="0" y="0"/>
            <a:chExt cx="232226" cy="636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2226" cy="63626"/>
            </a:xfrm>
            <a:custGeom>
              <a:avLst/>
              <a:gdLst/>
              <a:ahLst/>
              <a:cxnLst/>
              <a:rect l="l" t="t" r="r" b="b"/>
              <a:pathLst>
                <a:path w="232226" h="63626">
                  <a:moveTo>
                    <a:pt x="0" y="0"/>
                  </a:moveTo>
                  <a:lnTo>
                    <a:pt x="232226" y="0"/>
                  </a:lnTo>
                  <a:lnTo>
                    <a:pt x="232226" y="63626"/>
                  </a:lnTo>
                  <a:lnTo>
                    <a:pt x="0" y="636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32226" cy="111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H="1">
            <a:off x="11051806" y="4694921"/>
            <a:ext cx="411456" cy="0"/>
          </a:xfrm>
          <a:prstGeom prst="line">
            <a:avLst/>
          </a:prstGeom>
          <a:ln w="38100" cap="flat">
            <a:solidFill>
              <a:srgbClr val="D42A2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TextBox 14"/>
          <p:cNvSpPr txBox="1"/>
          <p:nvPr/>
        </p:nvSpPr>
        <p:spPr>
          <a:xfrm>
            <a:off x="1307538" y="7070927"/>
            <a:ext cx="5824879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After the installation, see the package details and click on </a:t>
            </a: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 in Advanced Installer.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18616" y="6881003"/>
            <a:ext cx="5824879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The unpacked application will be opened in Advanced Installer, scroll down to </a:t>
            </a: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Registry,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 the HKCU\Software hive and click on </a:t>
            </a: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 Key.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114599" y="3470619"/>
            <a:ext cx="971564" cy="432701"/>
            <a:chOff x="0" y="0"/>
            <a:chExt cx="255885" cy="1139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5885" cy="113962"/>
            </a:xfrm>
            <a:custGeom>
              <a:avLst/>
              <a:gdLst/>
              <a:ahLst/>
              <a:cxnLst/>
              <a:rect l="l" t="t" r="r" b="b"/>
              <a:pathLst>
                <a:path w="255885" h="113962">
                  <a:moveTo>
                    <a:pt x="0" y="0"/>
                  </a:moveTo>
                  <a:lnTo>
                    <a:pt x="255885" y="0"/>
                  </a:lnTo>
                  <a:lnTo>
                    <a:pt x="255885" y="113962"/>
                  </a:lnTo>
                  <a:lnTo>
                    <a:pt x="0" y="113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55885" cy="161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385042" y="2344238"/>
            <a:ext cx="533574" cy="647353"/>
            <a:chOff x="0" y="0"/>
            <a:chExt cx="140530" cy="1704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0530" cy="170496"/>
            </a:xfrm>
            <a:custGeom>
              <a:avLst/>
              <a:gdLst/>
              <a:ahLst/>
              <a:cxnLst/>
              <a:rect l="l" t="t" r="r" b="b"/>
              <a:pathLst>
                <a:path w="140530" h="170496">
                  <a:moveTo>
                    <a:pt x="0" y="0"/>
                  </a:moveTo>
                  <a:lnTo>
                    <a:pt x="140530" y="0"/>
                  </a:lnTo>
                  <a:lnTo>
                    <a:pt x="140530" y="170496"/>
                  </a:lnTo>
                  <a:lnTo>
                    <a:pt x="0" y="1704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40530" cy="218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280606" y="4496483"/>
            <a:ext cx="166798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spcBef>
                <a:spcPct val="0"/>
              </a:spcBef>
              <a:buAutoNum type="arabicPeriod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Here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97619" y="3488532"/>
            <a:ext cx="2254409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Expand the Hive</a:t>
            </a:r>
          </a:p>
        </p:txBody>
      </p:sp>
      <p:sp>
        <p:nvSpPr>
          <p:cNvPr id="24" name="AutoShape 24"/>
          <p:cNvSpPr/>
          <p:nvPr/>
        </p:nvSpPr>
        <p:spPr>
          <a:xfrm flipH="1">
            <a:off x="13086163" y="3686970"/>
            <a:ext cx="411456" cy="0"/>
          </a:xfrm>
          <a:prstGeom prst="line">
            <a:avLst/>
          </a:prstGeom>
          <a:ln w="38100" cap="flat">
            <a:solidFill>
              <a:srgbClr val="D42A2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" name="AutoShape 25"/>
          <p:cNvSpPr/>
          <p:nvPr/>
        </p:nvSpPr>
        <p:spPr>
          <a:xfrm flipH="1">
            <a:off x="10918616" y="2512009"/>
            <a:ext cx="411456" cy="0"/>
          </a:xfrm>
          <a:prstGeom prst="line">
            <a:avLst/>
          </a:prstGeom>
          <a:ln w="38100" cap="flat">
            <a:solidFill>
              <a:srgbClr val="D42A2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6" name="TextBox 26"/>
          <p:cNvSpPr txBox="1"/>
          <p:nvPr/>
        </p:nvSpPr>
        <p:spPr>
          <a:xfrm>
            <a:off x="10590466" y="1700058"/>
            <a:ext cx="327056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Click to add the new key.</a:t>
            </a:r>
          </a:p>
        </p:txBody>
      </p:sp>
      <p:sp>
        <p:nvSpPr>
          <p:cNvPr id="27" name="AutoShape 27"/>
          <p:cNvSpPr/>
          <p:nvPr/>
        </p:nvSpPr>
        <p:spPr>
          <a:xfrm>
            <a:off x="11311023" y="2049308"/>
            <a:ext cx="0" cy="462701"/>
          </a:xfrm>
          <a:prstGeom prst="line">
            <a:avLst/>
          </a:prstGeom>
          <a:ln w="38100" cap="flat">
            <a:solidFill>
              <a:srgbClr val="D42A2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29" name="Freeform 29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-6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41846"/>
            <a:ext cx="2726436" cy="440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33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STEPS: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1799106"/>
            <a:ext cx="6731076" cy="4509821"/>
          </a:xfrm>
          <a:custGeom>
            <a:avLst/>
            <a:gdLst/>
            <a:ahLst/>
            <a:cxnLst/>
            <a:rect l="l" t="t" r="r" b="b"/>
            <a:pathLst>
              <a:path w="6731076" h="4509821">
                <a:moveTo>
                  <a:pt x="0" y="0"/>
                </a:moveTo>
                <a:lnTo>
                  <a:pt x="6731076" y="0"/>
                </a:lnTo>
                <a:lnTo>
                  <a:pt x="6731076" y="4509821"/>
                </a:lnTo>
                <a:lnTo>
                  <a:pt x="0" y="4509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876797" y="3976759"/>
            <a:ext cx="1166895" cy="472995"/>
            <a:chOff x="0" y="0"/>
            <a:chExt cx="307330" cy="1245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7330" cy="124575"/>
            </a:xfrm>
            <a:custGeom>
              <a:avLst/>
              <a:gdLst/>
              <a:ahLst/>
              <a:cxnLst/>
              <a:rect l="l" t="t" r="r" b="b"/>
              <a:pathLst>
                <a:path w="307330" h="124575">
                  <a:moveTo>
                    <a:pt x="0" y="0"/>
                  </a:moveTo>
                  <a:lnTo>
                    <a:pt x="307330" y="0"/>
                  </a:lnTo>
                  <a:lnTo>
                    <a:pt x="307330" y="124575"/>
                  </a:lnTo>
                  <a:lnTo>
                    <a:pt x="0" y="1245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07330" cy="172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H="1" flipV="1">
            <a:off x="2587729" y="4449754"/>
            <a:ext cx="0" cy="413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" name="Freeform 9"/>
          <p:cNvSpPr/>
          <p:nvPr/>
        </p:nvSpPr>
        <p:spPr>
          <a:xfrm>
            <a:off x="9640975" y="1982450"/>
            <a:ext cx="7726123" cy="4143133"/>
          </a:xfrm>
          <a:custGeom>
            <a:avLst/>
            <a:gdLst/>
            <a:ahLst/>
            <a:cxnLst/>
            <a:rect l="l" t="t" r="r" b="b"/>
            <a:pathLst>
              <a:path w="7726123" h="4143133">
                <a:moveTo>
                  <a:pt x="0" y="0"/>
                </a:moveTo>
                <a:lnTo>
                  <a:pt x="7726123" y="0"/>
                </a:lnTo>
                <a:lnTo>
                  <a:pt x="7726123" y="4143133"/>
                </a:lnTo>
                <a:lnTo>
                  <a:pt x="0" y="4143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07538" y="7070927"/>
            <a:ext cx="5824879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Set the name of your Registry, then by right-clicking on the new key, add the new </a:t>
            </a: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Value.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 the value name, data and its type and click OK.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18616" y="6881003"/>
            <a:ext cx="5824879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6. Scroll back to the topmost part of the list and select </a:t>
            </a: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Build;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 the path and your new package will be saved.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684292" y="3319807"/>
            <a:ext cx="971564" cy="432701"/>
            <a:chOff x="0" y="0"/>
            <a:chExt cx="255885" cy="1139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5885" cy="113962"/>
            </a:xfrm>
            <a:custGeom>
              <a:avLst/>
              <a:gdLst/>
              <a:ahLst/>
              <a:cxnLst/>
              <a:rect l="l" t="t" r="r" b="b"/>
              <a:pathLst>
                <a:path w="255885" h="113962">
                  <a:moveTo>
                    <a:pt x="0" y="0"/>
                  </a:moveTo>
                  <a:lnTo>
                    <a:pt x="255885" y="0"/>
                  </a:lnTo>
                  <a:lnTo>
                    <a:pt x="255885" y="113962"/>
                  </a:lnTo>
                  <a:lnTo>
                    <a:pt x="0" y="113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55885" cy="161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24217" y="2188333"/>
            <a:ext cx="533574" cy="647353"/>
            <a:chOff x="0" y="0"/>
            <a:chExt cx="140530" cy="1704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0530" cy="170496"/>
            </a:xfrm>
            <a:custGeom>
              <a:avLst/>
              <a:gdLst/>
              <a:ahLst/>
              <a:cxnLst/>
              <a:rect l="l" t="t" r="r" b="b"/>
              <a:pathLst>
                <a:path w="140530" h="170496">
                  <a:moveTo>
                    <a:pt x="0" y="0"/>
                  </a:moveTo>
                  <a:lnTo>
                    <a:pt x="140530" y="0"/>
                  </a:lnTo>
                  <a:lnTo>
                    <a:pt x="140530" y="170496"/>
                  </a:lnTo>
                  <a:lnTo>
                    <a:pt x="0" y="1704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40530" cy="218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915322" y="3337720"/>
            <a:ext cx="406654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spcBef>
                <a:spcPct val="0"/>
              </a:spcBef>
              <a:buAutoNum type="arabicPeriod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Scroll Back to Product Details</a:t>
            </a:r>
          </a:p>
        </p:txBody>
      </p:sp>
      <p:sp>
        <p:nvSpPr>
          <p:cNvPr id="19" name="AutoShape 19"/>
          <p:cNvSpPr/>
          <p:nvPr/>
        </p:nvSpPr>
        <p:spPr>
          <a:xfrm flipH="1">
            <a:off x="10640349" y="3536157"/>
            <a:ext cx="411456" cy="0"/>
          </a:xfrm>
          <a:prstGeom prst="line">
            <a:avLst/>
          </a:prstGeom>
          <a:ln w="38100" cap="flat">
            <a:solidFill>
              <a:srgbClr val="D42A2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0" name="AutoShape 20"/>
          <p:cNvSpPr/>
          <p:nvPr/>
        </p:nvSpPr>
        <p:spPr>
          <a:xfrm flipH="1">
            <a:off x="10057791" y="2512009"/>
            <a:ext cx="674873" cy="0"/>
          </a:xfrm>
          <a:prstGeom prst="line">
            <a:avLst/>
          </a:prstGeom>
          <a:ln w="38100" cap="flat">
            <a:solidFill>
              <a:srgbClr val="D42A2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1" name="TextBox 21"/>
          <p:cNvSpPr txBox="1"/>
          <p:nvPr/>
        </p:nvSpPr>
        <p:spPr>
          <a:xfrm>
            <a:off x="9679426" y="1087906"/>
            <a:ext cx="415163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Click on build, give path for the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new re-packed package and Done.</a:t>
            </a:r>
          </a:p>
        </p:txBody>
      </p:sp>
      <p:sp>
        <p:nvSpPr>
          <p:cNvPr id="22" name="AutoShape 22"/>
          <p:cNvSpPr/>
          <p:nvPr/>
        </p:nvSpPr>
        <p:spPr>
          <a:xfrm flipV="1">
            <a:off x="10713614" y="1825776"/>
            <a:ext cx="0" cy="686233"/>
          </a:xfrm>
          <a:prstGeom prst="line">
            <a:avLst/>
          </a:prstGeom>
          <a:ln w="38100" cap="flat">
            <a:solidFill>
              <a:srgbClr val="D42A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1307538" y="4844533"/>
            <a:ext cx="2832325" cy="407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5" lvl="1" indent="-129542" algn="just">
              <a:lnSpc>
                <a:spcPts val="1680"/>
              </a:lnSpc>
              <a:spcBef>
                <a:spcPct val="0"/>
              </a:spcBef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Right click on the newly created key and select “New Value”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850582" y="2468807"/>
            <a:ext cx="681038" cy="345138"/>
            <a:chOff x="0" y="0"/>
            <a:chExt cx="179368" cy="9090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9368" cy="90901"/>
            </a:xfrm>
            <a:custGeom>
              <a:avLst/>
              <a:gdLst/>
              <a:ahLst/>
              <a:cxnLst/>
              <a:rect l="l" t="t" r="r" b="b"/>
              <a:pathLst>
                <a:path w="179368" h="90901">
                  <a:moveTo>
                    <a:pt x="0" y="0"/>
                  </a:moveTo>
                  <a:lnTo>
                    <a:pt x="179368" y="0"/>
                  </a:lnTo>
                  <a:lnTo>
                    <a:pt x="179368" y="90901"/>
                  </a:lnTo>
                  <a:lnTo>
                    <a:pt x="0" y="909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79368" cy="138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230527" y="2532791"/>
            <a:ext cx="2832325" cy="19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Set the name for the Value.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4436753" y="2641376"/>
            <a:ext cx="41382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9" name="Group 29"/>
          <p:cNvGrpSpPr/>
          <p:nvPr/>
        </p:nvGrpSpPr>
        <p:grpSpPr>
          <a:xfrm>
            <a:off x="5314323" y="5648138"/>
            <a:ext cx="681038" cy="345138"/>
            <a:chOff x="0" y="0"/>
            <a:chExt cx="179368" cy="9090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79368" cy="90901"/>
            </a:xfrm>
            <a:custGeom>
              <a:avLst/>
              <a:gdLst/>
              <a:ahLst/>
              <a:cxnLst/>
              <a:rect l="l" t="t" r="r" b="b"/>
              <a:pathLst>
                <a:path w="179368" h="90901">
                  <a:moveTo>
                    <a:pt x="0" y="0"/>
                  </a:moveTo>
                  <a:lnTo>
                    <a:pt x="179368" y="0"/>
                  </a:lnTo>
                  <a:lnTo>
                    <a:pt x="179368" y="90901"/>
                  </a:lnTo>
                  <a:lnTo>
                    <a:pt x="0" y="909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79368" cy="138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 flipV="1">
            <a:off x="4900494" y="5801657"/>
            <a:ext cx="41382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3" name="TextBox 33"/>
          <p:cNvSpPr txBox="1"/>
          <p:nvPr/>
        </p:nvSpPr>
        <p:spPr>
          <a:xfrm>
            <a:off x="2018257" y="5642727"/>
            <a:ext cx="2832325" cy="407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Set the data and its type then click OK.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35" name="Freeform 35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-6"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41846"/>
            <a:ext cx="2726436" cy="440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33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STEPS: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id="4" name="Freeform 4"/>
          <p:cNvSpPr/>
          <p:nvPr/>
        </p:nvSpPr>
        <p:spPr>
          <a:xfrm>
            <a:off x="910261" y="1566723"/>
            <a:ext cx="8561678" cy="6464067"/>
          </a:xfrm>
          <a:custGeom>
            <a:avLst/>
            <a:gdLst/>
            <a:ahLst/>
            <a:cxnLst/>
            <a:rect l="l" t="t" r="r" b="b"/>
            <a:pathLst>
              <a:path w="8561678" h="6464067">
                <a:moveTo>
                  <a:pt x="0" y="0"/>
                </a:moveTo>
                <a:lnTo>
                  <a:pt x="8561679" y="0"/>
                </a:lnTo>
                <a:lnTo>
                  <a:pt x="8561679" y="6464067"/>
                </a:lnTo>
                <a:lnTo>
                  <a:pt x="0" y="6464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3288" y="4009796"/>
            <a:ext cx="5824879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86CB"/>
                </a:solidFill>
                <a:latin typeface="Canva Sans"/>
                <a:ea typeface="Canva Sans"/>
                <a:cs typeface="Canva Sans"/>
                <a:sym typeface="Canva Sans"/>
              </a:rPr>
              <a:t>7. We have got the custom installer file, ready to be deployed in new machine which will automatically configure the custom registry keys.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568421" y="2813945"/>
            <a:ext cx="2745903" cy="647353"/>
            <a:chOff x="0" y="0"/>
            <a:chExt cx="723201" cy="1704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3201" cy="170496"/>
            </a:xfrm>
            <a:custGeom>
              <a:avLst/>
              <a:gdLst/>
              <a:ahLst/>
              <a:cxnLst/>
              <a:rect l="l" t="t" r="r" b="b"/>
              <a:pathLst>
                <a:path w="723201" h="170496">
                  <a:moveTo>
                    <a:pt x="0" y="0"/>
                  </a:moveTo>
                  <a:lnTo>
                    <a:pt x="723201" y="0"/>
                  </a:lnTo>
                  <a:lnTo>
                    <a:pt x="723201" y="170496"/>
                  </a:lnTo>
                  <a:lnTo>
                    <a:pt x="0" y="1704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CFCFC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723201" cy="218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4200928" y="3536296"/>
            <a:ext cx="0" cy="797350"/>
          </a:xfrm>
          <a:prstGeom prst="line">
            <a:avLst/>
          </a:prstGeom>
          <a:ln w="38100" cap="flat">
            <a:solidFill>
              <a:srgbClr val="D42A2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0" name="TextBox 10"/>
          <p:cNvSpPr txBox="1"/>
          <p:nvPr/>
        </p:nvSpPr>
        <p:spPr>
          <a:xfrm>
            <a:off x="2722322" y="4362221"/>
            <a:ext cx="586504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CFCFC"/>
                </a:solidFill>
                <a:latin typeface="Canva Sans"/>
                <a:ea typeface="Canva Sans"/>
                <a:cs typeface="Canva Sans"/>
                <a:sym typeface="Canva Sans"/>
              </a:rPr>
              <a:t>Our newly Re-Packaged application with customized registry configuration is ready.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12" name="Freeform 12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4" b="-6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531692"/>
            <a:ext cx="12600214" cy="6410359"/>
          </a:xfrm>
          <a:custGeom>
            <a:avLst/>
            <a:gdLst/>
            <a:ahLst/>
            <a:cxnLst/>
            <a:rect l="l" t="t" r="r" b="b"/>
            <a:pathLst>
              <a:path w="12600214" h="6410359">
                <a:moveTo>
                  <a:pt x="0" y="0"/>
                </a:moveTo>
                <a:lnTo>
                  <a:pt x="12600214" y="0"/>
                </a:lnTo>
                <a:lnTo>
                  <a:pt x="12600214" y="6410359"/>
                </a:lnTo>
                <a:lnTo>
                  <a:pt x="0" y="64103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41846"/>
            <a:ext cx="2726436" cy="440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334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RESULT: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55025" y="5655027"/>
            <a:ext cx="2745903" cy="647353"/>
            <a:chOff x="0" y="0"/>
            <a:chExt cx="723201" cy="1704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3201" cy="170496"/>
            </a:xfrm>
            <a:custGeom>
              <a:avLst/>
              <a:gdLst/>
              <a:ahLst/>
              <a:cxnLst/>
              <a:rect l="l" t="t" r="r" b="b"/>
              <a:pathLst>
                <a:path w="723201" h="170496">
                  <a:moveTo>
                    <a:pt x="0" y="0"/>
                  </a:moveTo>
                  <a:lnTo>
                    <a:pt x="723201" y="0"/>
                  </a:lnTo>
                  <a:lnTo>
                    <a:pt x="723201" y="170496"/>
                  </a:lnTo>
                  <a:lnTo>
                    <a:pt x="0" y="1704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33F63">
                  <a:alpha val="64706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23201" cy="218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H="1" flipV="1">
            <a:off x="4200928" y="5916487"/>
            <a:ext cx="1027608" cy="0"/>
          </a:xfrm>
          <a:prstGeom prst="line">
            <a:avLst/>
          </a:prstGeom>
          <a:ln w="38100" cap="flat">
            <a:solidFill>
              <a:srgbClr val="D42A2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" name="TextBox 9"/>
          <p:cNvSpPr txBox="1"/>
          <p:nvPr/>
        </p:nvSpPr>
        <p:spPr>
          <a:xfrm>
            <a:off x="5306979" y="5600705"/>
            <a:ext cx="586504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86CB"/>
                </a:solidFill>
                <a:latin typeface="Canva Sans"/>
                <a:ea typeface="Canva Sans"/>
                <a:cs typeface="Canva Sans"/>
                <a:sym typeface="Canva Sans"/>
              </a:rPr>
              <a:t>After the installation,  the custom made registry key has successfully been created.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11" name="Freeform 11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4" b="-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52285" y="-1655401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CFCFC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671601" y="5143500"/>
            <a:ext cx="7343202" cy="734320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CFCFC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641716" y="4881875"/>
            <a:ext cx="13004567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999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As we saw, we successfully created and installed our customized application which creates predefined registry keys when installed in a system, by using </a:t>
            </a:r>
            <a:r>
              <a:rPr lang="en-US" sz="2999" b="1">
                <a:solidFill>
                  <a:srgbClr val="0186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 Repackager &amp; Installer.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15879" y="3147360"/>
            <a:ext cx="11856241" cy="132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>
                <a:solidFill>
                  <a:srgbClr val="0186C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10" name="Freeform 10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6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88498"/>
            <a:ext cx="8115300" cy="409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https://www.advancedinstaller.com/</a:t>
            </a:r>
          </a:p>
          <a:p>
            <a:pPr algn="l">
              <a:lnSpc>
                <a:spcPts val="2969"/>
              </a:lnSpc>
            </a:pPr>
            <a:endParaRPr lang="en-US" sz="2699">
              <a:solidFill>
                <a:srgbClr val="0186C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69"/>
              </a:lnSpc>
            </a:pPr>
            <a:r>
              <a:rPr lang="en-US" sz="2699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https://www.advancedinstaller.com/user-guide/introduction.html</a:t>
            </a:r>
          </a:p>
          <a:p>
            <a:pPr algn="l">
              <a:lnSpc>
                <a:spcPts val="2969"/>
              </a:lnSpc>
            </a:pPr>
            <a:endParaRPr lang="en-US" sz="2699">
              <a:solidFill>
                <a:srgbClr val="0186C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69"/>
              </a:lnSpc>
            </a:pPr>
            <a:r>
              <a:rPr lang="en-US" sz="2699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https://www.advancedinstaller.com/requirements.html</a:t>
            </a:r>
          </a:p>
          <a:p>
            <a:pPr algn="l">
              <a:lnSpc>
                <a:spcPts val="2969"/>
              </a:lnSpc>
            </a:pPr>
            <a:endParaRPr lang="en-US" sz="2699">
              <a:solidFill>
                <a:srgbClr val="0186C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69"/>
              </a:lnSpc>
            </a:pPr>
            <a:r>
              <a:rPr lang="en-US" sz="2699">
                <a:solidFill>
                  <a:srgbClr val="0186CB"/>
                </a:solidFill>
                <a:latin typeface="Montserrat"/>
                <a:ea typeface="Montserrat"/>
                <a:cs typeface="Montserrat"/>
                <a:sym typeface="Montserrat"/>
              </a:rPr>
              <a:t>https://developers.cloudflare.com/cloudflare-one/connections/connect-devices/warp/download-warp/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31851"/>
            <a:ext cx="13258608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b="1">
                <a:solidFill>
                  <a:srgbClr val="0186C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SOURCES AND 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sp>
        <p:nvSpPr>
          <p:cNvPr id="5" name="Freeform 5"/>
          <p:cNvSpPr/>
          <p:nvPr/>
        </p:nvSpPr>
        <p:spPr>
          <a:xfrm>
            <a:off x="10864359" y="2403301"/>
            <a:ext cx="5120602" cy="5120602"/>
          </a:xfrm>
          <a:custGeom>
            <a:avLst/>
            <a:gdLst/>
            <a:ahLst/>
            <a:cxnLst/>
            <a:rect l="l" t="t" r="r" b="b"/>
            <a:pathLst>
              <a:path w="5120602" h="5120602">
                <a:moveTo>
                  <a:pt x="0" y="0"/>
                </a:moveTo>
                <a:lnTo>
                  <a:pt x="5120602" y="0"/>
                </a:lnTo>
                <a:lnTo>
                  <a:pt x="5120602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2945" y="9596826"/>
            <a:ext cx="968649" cy="634405"/>
            <a:chOff x="0" y="0"/>
            <a:chExt cx="1291532" cy="845874"/>
          </a:xfrm>
        </p:grpSpPr>
        <p:sp>
          <p:nvSpPr>
            <p:cNvPr id="7" name="Freeform 7" descr="Logo  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4" b="-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637135" y="9580243"/>
            <a:ext cx="93891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2025 - RPS Consulting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6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8501" y="4023943"/>
            <a:ext cx="17290999" cy="184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52"/>
              </a:lnSpc>
              <a:spcBef>
                <a:spcPct val="0"/>
              </a:spcBef>
            </a:pPr>
            <a:r>
              <a:rPr lang="en-US" sz="13952" b="1">
                <a:solidFill>
                  <a:srgbClr val="FCFCF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49340" y="356504"/>
            <a:ext cx="1818466" cy="1183049"/>
            <a:chOff x="0" y="0"/>
            <a:chExt cx="2424622" cy="15773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4684" cy="1577340"/>
            </a:xfrm>
            <a:custGeom>
              <a:avLst/>
              <a:gdLst/>
              <a:ahLst/>
              <a:cxnLst/>
              <a:rect l="l" t="t" r="r" b="b"/>
              <a:pathLst>
                <a:path w="2424684" h="1577340">
                  <a:moveTo>
                    <a:pt x="0" y="0"/>
                  </a:moveTo>
                  <a:lnTo>
                    <a:pt x="2424684" y="0"/>
                  </a:lnTo>
                  <a:lnTo>
                    <a:pt x="2424684" y="1577340"/>
                  </a:lnTo>
                  <a:lnTo>
                    <a:pt x="0" y="1577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88" b="-2549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549339" y="9153525"/>
            <a:ext cx="6259402" cy="38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1999" b="1" spc="199">
                <a:solidFill>
                  <a:srgbClr val="FCFC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www.rpsconsulting.in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853</Words>
  <Application>Microsoft Office PowerPoint</Application>
  <PresentationFormat>Custom</PresentationFormat>
  <Paragraphs>108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Canva Sans</vt:lpstr>
      <vt:lpstr>Canva Sans Bold</vt:lpstr>
      <vt:lpstr>Arial</vt:lpstr>
      <vt:lpstr>Montserrat Ultra-Bold</vt:lpstr>
      <vt:lpstr>Montserrat Bold</vt:lpstr>
      <vt:lpstr>Montserrat</vt:lpstr>
      <vt:lpstr>Calibri (MS)</vt:lpstr>
      <vt:lpstr>HK Grotesk Light</vt:lpstr>
      <vt:lpstr>HK Grotesk</vt:lpstr>
      <vt:lpstr>Calibri</vt:lpstr>
      <vt:lpstr>HK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WiproCapProject</dc:title>
  <cp:lastModifiedBy>Radhey Radhey</cp:lastModifiedBy>
  <cp:revision>4</cp:revision>
  <dcterms:created xsi:type="dcterms:W3CDTF">2006-08-16T00:00:00Z</dcterms:created>
  <dcterms:modified xsi:type="dcterms:W3CDTF">2025-09-03T19:05:22Z</dcterms:modified>
  <dc:identifier>DAGxi38bU_A</dc:identifier>
</cp:coreProperties>
</file>