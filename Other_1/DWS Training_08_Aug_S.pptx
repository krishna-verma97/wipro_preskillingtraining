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9144000"/>
  <p:notesSz cx="6858000" cy="9144000"/>
  <p:embeddedFontLst>
    <p:embeddedFont>
      <p:font typeface="Arial Black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jl0Q2SuvxXU1EfY4miabrdZAqB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9C45AE-D444-49B9-BE7E-1959846D4802}">
  <a:tblStyle styleId="{399C45AE-D444-49B9-BE7E-1959846D48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ArialBlack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n.wikipedia.org/wiki/Microsoft_Windows?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arn.microsoft.com/en-us/windows/release-health/release-information" TargetMode="External"/><Relationship Id="rId4" Type="http://schemas.openxmlformats.org/officeDocument/2006/relationships/hyperlink" Target="https://learn.microsoft.com/en-us/windows-server/get-started/windows-server-release-inf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n-us/windows/release-health/supported-versions-windows-client" TargetMode="External"/><Relationship Id="rId4" Type="http://schemas.openxmlformats.org/officeDocument/2006/relationships/hyperlink" Target="https://learn.microsoft.com/en-us/windows/release-health/supported-versions-windows-client" TargetMode="External"/><Relationship Id="rId5" Type="http://schemas.openxmlformats.org/officeDocument/2006/relationships/hyperlink" Target="https://learn.microsoft.com/en-us/windows/release-health/windows-server-release-info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arn.microsoft.com/en-us/windows/release-health/supported-versions-windows-client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364087" y="689491"/>
            <a:ext cx="36724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Aharoni"/>
              <a:buNone/>
            </a:pPr>
            <a:r>
              <a:rPr b="0" i="0" lang="en-US" sz="3600" u="none" cap="none" strike="noStrike">
                <a:solidFill>
                  <a:srgbClr val="00B0F0"/>
                </a:solidFill>
                <a:latin typeface="Aharoni"/>
                <a:ea typeface="Aharoni"/>
                <a:cs typeface="Aharoni"/>
                <a:sym typeface="Aharoni"/>
              </a:rPr>
              <a:t>DWS - Industry Integrated Skilling Program</a:t>
            </a:r>
            <a:endParaRPr b="0" i="0" sz="3600" u="none" cap="none" strike="noStrike">
              <a:solidFill>
                <a:srgbClr val="00B0F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076056" cy="486271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5076055" y="2997815"/>
            <a:ext cx="4090893" cy="266343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4862719"/>
            <a:ext cx="5076054" cy="199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894018" y="6016115"/>
            <a:ext cx="2454965" cy="487017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 Black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Prepared by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 Black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Thousif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6045" y="0"/>
            <a:ext cx="4998003" cy="126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Program Dates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045" y="6629400"/>
            <a:ext cx="914400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2" y="1392080"/>
            <a:ext cx="9144000" cy="4845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045" y="0"/>
            <a:ext cx="4998003" cy="126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Program Schedule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045" y="6629400"/>
            <a:ext cx="914400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67544" y="1890944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48009" y="1890943"/>
            <a:ext cx="3600400" cy="228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8:45 am – Session starts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67543" y="2322980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60382" y="2308280"/>
            <a:ext cx="4187682" cy="3989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mts Short break  ( 11am – 11.15am)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67543" y="2750443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71600" y="2761148"/>
            <a:ext cx="4032448" cy="24329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60 mts Lunch break ( 1pm – 2.00pm)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960382" y="3685012"/>
            <a:ext cx="5267802" cy="46575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5:15 pm Recap, Q&amp;A, Feedback &amp; Closing the day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67543" y="3778260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1255" y="3271965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960382" y="3239453"/>
            <a:ext cx="4032448" cy="24329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mts Short break ( 4pm – 4.15pm)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49640" y="1494026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924142" y="1506107"/>
            <a:ext cx="3600400" cy="228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hour per day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6045" y="0"/>
            <a:ext cx="4998003" cy="126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Candidate guidelines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045" y="6629400"/>
            <a:ext cx="914400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67543" y="1931777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948008" y="1890942"/>
            <a:ext cx="5627841" cy="30060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 on-time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67543" y="2395598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60383" y="2308280"/>
            <a:ext cx="5627842" cy="3411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Ask questions if you have doubts or need clarification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90809" y="2909017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71599" y="2789163"/>
            <a:ext cx="5616625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 your Lab Activities without fail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84960" y="3344402"/>
            <a:ext cx="5603263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Respect break times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90809" y="3473323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83752" y="3876618"/>
            <a:ext cx="5603262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 phones in Silent mode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91659" y="4014682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90809" y="4505174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71599" y="4416778"/>
            <a:ext cx="5603263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MCQ / Lab Assessment at the end of modules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90809" y="4995153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83751" y="4891969"/>
            <a:ext cx="5603263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Contact Trainer for any training or lab related issues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390840" y="476672"/>
            <a:ext cx="8229600" cy="5517232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b="1" sz="40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DWS Training</a:t>
            </a:r>
            <a:endParaRPr b="1" sz="4000"/>
          </a:p>
          <a:p>
            <a:pPr indent="0" lvl="0" marL="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0" y="13103"/>
            <a:ext cx="9144000" cy="778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Module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390840" y="1196752"/>
            <a:ext cx="8229600" cy="561662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 – Introduction to Windows Operating System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157" name="Google Shape;157;p7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Introduction to Operating System </a:t>
            </a:r>
            <a:r>
              <a:rPr lang="en-US" sz="1800"/>
              <a:t>- An operating system (OS) is system software that manages computer hardware, software resources, and provides common services for computer programs.</a:t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Operating System Vendors – 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- 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Microsoft Windows – Wikipedia</a:t>
            </a:r>
            <a:endParaRPr sz="1800"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Apple iOS</a:t>
            </a:r>
            <a:endParaRPr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Android</a:t>
            </a:r>
            <a:endParaRPr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Ubuntu</a:t>
            </a:r>
            <a:endParaRPr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Linux</a:t>
            </a:r>
            <a:endParaRPr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163" name="Google Shape;163;p8"/>
          <p:cNvSpPr txBox="1"/>
          <p:nvPr>
            <p:ph idx="1" type="body"/>
          </p:nvPr>
        </p:nvSpPr>
        <p:spPr>
          <a:xfrm>
            <a:off x="426368" y="964294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Operating Systems Type</a:t>
            </a:r>
            <a:endParaRPr b="1" sz="1800" u="sng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/>
              <a:t>Client 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Windows 10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Windows 11</a:t>
            </a:r>
            <a:endParaRPr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2. Server 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Windows Server 2016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Windows Server 2019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Windows Server 2022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169" name="Google Shape;169;p9"/>
          <p:cNvSpPr txBox="1"/>
          <p:nvPr>
            <p:ph idx="1" type="body"/>
          </p:nvPr>
        </p:nvSpPr>
        <p:spPr>
          <a:xfrm>
            <a:off x="426368" y="964294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Operating Systems Version History</a:t>
            </a:r>
            <a:endParaRPr b="1" sz="1800" u="sng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Client -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Windows 10 - release information | Microsoft Learn</a:t>
            </a:r>
            <a:r>
              <a:rPr lang="en-US" sz="1800"/>
              <a:t> </a:t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Server -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Windows Server release information | Microsoft Learn</a:t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</a:t>
            </a:r>
            <a:endParaRPr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175" name="Google Shape;175;p10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Windows Operating System LifeCycle</a:t>
            </a:r>
            <a:endParaRPr b="1" sz="1800" u="sng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solidFill>
                <a:schemeClr val="hlink"/>
              </a:solidFill>
              <a:hlinkClick r:id="rId3"/>
            </a:endParaRPr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Supported versions of Windows client | Microsoft Learn</a:t>
            </a:r>
            <a:endParaRPr sz="1800"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Windows Server release information | Microsoft Learn</a:t>
            </a:r>
            <a:r>
              <a:rPr lang="en-US" sz="1800"/>
              <a:t> </a:t>
            </a:r>
            <a:endParaRPr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181" name="Google Shape;181;p11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Identifying Windows Build Version and Edition</a:t>
            </a:r>
            <a:endParaRPr sz="1800"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solidFill>
                <a:schemeClr val="hlink"/>
              </a:solidFill>
              <a:hlinkClick r:id="rId3"/>
            </a:endParaRPr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182" name="Google Shape;1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664" y="2225612"/>
            <a:ext cx="6048672" cy="3147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0005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Windows Basic Functions</a:t>
            </a:r>
            <a:endParaRPr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Start Menu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Task Bar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Command Prompt and PowerShell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Universal App – Office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File/Windows Explorer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Inbuilt Apps – Edge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MS Store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194" name="Google Shape;194;p13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0005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Windows Basic Functions</a:t>
            </a:r>
            <a:endParaRPr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Event viewer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Windows Run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UAC -Admin, Standard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Windows Registry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Disk Cleaner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Disk Management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Task Scheduler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>
            <p:ph type="title"/>
          </p:nvPr>
        </p:nvSpPr>
        <p:spPr>
          <a:xfrm>
            <a:off x="0" y="13103"/>
            <a:ext cx="9144000" cy="778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Module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 txBox="1"/>
          <p:nvPr>
            <p:ph idx="1" type="body"/>
          </p:nvPr>
        </p:nvSpPr>
        <p:spPr>
          <a:xfrm>
            <a:off x="390840" y="899714"/>
            <a:ext cx="8229600" cy="561662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2 – Application Packaging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 Application Packaging</a:t>
            </a:r>
            <a:endParaRPr/>
          </a:p>
        </p:txBody>
      </p:sp>
      <p:sp>
        <p:nvSpPr>
          <p:cNvPr id="206" name="Google Shape;206;p15"/>
          <p:cNvSpPr txBox="1"/>
          <p:nvPr>
            <p:ph idx="1" type="body"/>
          </p:nvPr>
        </p:nvSpPr>
        <p:spPr>
          <a:xfrm>
            <a:off x="395536" y="1196752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Application Packaging - </a:t>
            </a:r>
            <a:r>
              <a:rPr lang="en-US" sz="1800"/>
              <a:t>is the process of preparing software applications for deployment in a standardized, automated, and manageable way across multiple systems or environments. It’s especially crucial in enterprise IT environments where consistency, security, and scalability are key.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Their terms application packaging and repackaging is mostly used in the same sense. However, if we get the binaries from a vendor, then we combine them to make an application package. If we get a legacy installer from a vendor such as an exe or msi or batch files etc then we customize them as an application repackage.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 Application Packaging</a:t>
            </a:r>
            <a:endParaRPr/>
          </a:p>
        </p:txBody>
      </p:sp>
      <p:sp>
        <p:nvSpPr>
          <p:cNvPr id="212" name="Google Shape;212;p16"/>
          <p:cNvSpPr txBox="1"/>
          <p:nvPr>
            <p:ph idx="1" type="body"/>
          </p:nvPr>
        </p:nvSpPr>
        <p:spPr>
          <a:xfrm>
            <a:off x="395536" y="1196752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Application packaging typically includes: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Customization</a:t>
            </a:r>
            <a:r>
              <a:rPr lang="en-US" sz="1800"/>
              <a:t>: Tailoring the application settings to meet organizational needs (e.g., disabling auto-updates, setting default paths).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Bundling</a:t>
            </a:r>
            <a:r>
              <a:rPr lang="en-US" sz="1800"/>
              <a:t>: Wrapping all necessary files, configurations, and dependencies into a single package.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Testing</a:t>
            </a:r>
            <a:r>
              <a:rPr lang="en-US" sz="1800"/>
              <a:t>: Ensuring the package installs, runs, and uninstalls correctly without conflicts.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Deployment Readiness</a:t>
            </a:r>
            <a:r>
              <a:rPr lang="en-US" sz="1800"/>
              <a:t>: Making the package compatible with deployment tools like SCCM, Intune, or other endpoint management systems.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 Application Packaging</a:t>
            </a:r>
            <a:endParaRPr/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395536" y="1196752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Why Standard App Packaging is necessary in IT 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Consistency</a:t>
            </a:r>
            <a:r>
              <a:rPr lang="en-US" sz="1800"/>
              <a:t>: Ensures all users get the same version and configuration.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Efficiency</a:t>
            </a:r>
            <a:r>
              <a:rPr lang="en-US" sz="1800"/>
              <a:t>: Speeds up deployment and reduces manual errors.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Security</a:t>
            </a:r>
            <a:r>
              <a:rPr lang="en-US" sz="1800"/>
              <a:t>: Helps enforce policies and reduce vulnerabilities.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Scalability</a:t>
            </a:r>
            <a:r>
              <a:rPr lang="en-US" sz="1800"/>
              <a:t>: Supports mass deployment across thousands of devices.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Device drivers </a:t>
            </a:r>
            <a:r>
              <a:rPr lang="en-US" sz="1800"/>
              <a:t>are low-level software components that allow the operating system to communicate with hardware devices like printers, graphics cards, network adapters, etc.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They act as translators between the OS and the hardware.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Each device requires a specific driver to function properly.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Handling Drivers Within MSI Packages: MSI (Microsoft Installer) is a Windows installation package format used to install software, including drivers.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How Drivers Are Packaged in MSI: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MSI files can include drivers directly or call external driver installers.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Driver installation may be handled using: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DPInst.exe (Driver Package Installer)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PnPUtil.exe (Plug and Play Utility)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Driver-related files and where they go after installation: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After installation, drivers are staged in the DriverStore: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Location</a:t>
            </a:r>
            <a:r>
              <a:rPr lang="en-US" sz="1800"/>
              <a:t>: </a:t>
            </a:r>
            <a:r>
              <a:rPr i="1" lang="en-US" sz="1800"/>
              <a:t>C:\Windows\System32\DriverStore\FileRepository &amp;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US" sz="1800"/>
              <a:t>C:\Windows\inf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i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231" name="Google Shape;231;p19"/>
          <p:cNvGraphicFramePr/>
          <p:nvPr/>
        </p:nvGraphicFramePr>
        <p:xfrm>
          <a:off x="385259" y="1772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{399C45AE-D444-49B9-BE7E-1959846D4802}</a:tableStyleId>
              </a:tblPr>
              <a:tblGrid>
                <a:gridCol w="1234475"/>
                <a:gridCol w="2592300"/>
                <a:gridCol w="4402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File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Common Location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.inf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Driver setup info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Inside MSI or %SystemRoot%\INF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.sys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Driver binary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%SystemRoot%\System32\drivers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.cat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Catalog file for signing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%SystemRoot%\System32\CatRoot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.dll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Driver support libraries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%SystemRoot%\System32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.exe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Installer or helper tools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May be in MSI or %ProgramFiles%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Logs for Successful Installation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MSI Installation Logs: </a:t>
            </a:r>
            <a:r>
              <a:rPr lang="en-US" sz="1800"/>
              <a:t>Enable logging with this command: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msiexec /i yourdriver.msi /L*v install.log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Event Viewer: </a:t>
            </a:r>
            <a:r>
              <a:rPr lang="en-US" sz="1800"/>
              <a:t>Event Viewer → Windows Logs → System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Filter for source: DriverFrameworks-UserMode, Service Control Manager, or SetupAPI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Device Manager: </a:t>
            </a:r>
            <a:r>
              <a:rPr lang="en-US" sz="1800"/>
              <a:t>Right-click device → Properties → Driver tab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Check driver version and provider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PnPUtil: </a:t>
            </a:r>
            <a:r>
              <a:rPr lang="en-US" sz="1800"/>
              <a:t>pnputil /enum-drivers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Kernel Drivers? - </a:t>
            </a:r>
            <a:r>
              <a:rPr lang="en-US" sz="1800"/>
              <a:t>Kernel drivers operate in Ring 0, the most privileged level of the operating system. They directly interact with hardware and core OS functions.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Examples of Kernel Drivers: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File system drivers (e.g., ntfs.sys)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Network drivers (e.g., ndis.sys)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Storage drivers (e.g., storport.sys)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Security drivers (e.g., antivirus kernel hooks)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Identifying Kernel Drivers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Windows Device Manager: </a:t>
            </a:r>
            <a:r>
              <a:rPr lang="en-US" sz="1800"/>
              <a:t>View driver details under device properties → Driver tab → Driver File Details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Kernel drivers typically reside in C:\Windows\System32\drivers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DriverQuery Command: </a:t>
            </a:r>
            <a:r>
              <a:rPr lang="en-US" sz="1800"/>
              <a:t>driverquery /v /fo list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Handling Kernel Drivers Within MSI: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MSI packages can install kernel-mode drivers, but they must follow strict guidelines due to their privileged nature.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Key Considerations: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Driver Signing: </a:t>
            </a:r>
            <a:r>
              <a:rPr lang="en-US" sz="1800"/>
              <a:t>Kernel drivers must be signed (WHQL or EV certificate) to load on modern Windows.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INF File: </a:t>
            </a:r>
            <a:r>
              <a:rPr lang="en-US" sz="1800"/>
              <a:t>Defines how the driver is installed and associated with hardware.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Handling Services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Handling Windows Services in MSI: </a:t>
            </a:r>
            <a:r>
              <a:rPr lang="en-US" sz="1800"/>
              <a:t>Windows Services are background processes that can be installed and managed via MSI using built-in tables and actions.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Key MSI Tables for Services: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262" name="Google Shape;262;p24"/>
          <p:cNvGraphicFramePr/>
          <p:nvPr/>
        </p:nvGraphicFramePr>
        <p:xfrm>
          <a:off x="351614" y="25649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{399C45AE-D444-49B9-BE7E-1959846D4802}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Table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ServiceInstall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Defines service properties (name, startup type, dependencies)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ServiceControl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Controls service actions (start, stop, delete) during install/uninstall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MsiServiceConfig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Advanced service configuration (e.g., delayed start, failure actions)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MsiServiceConfigFailureActions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Specifies actions on service failure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Handling Services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Handling Printers in MSI: </a:t>
            </a:r>
            <a:r>
              <a:rPr lang="en-US" sz="1800"/>
              <a:t>MSI can also manage printer installation, driver deployment, and port configuration.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Printer Deployment Actions: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269" name="Google Shape;269;p25"/>
          <p:cNvGraphicFramePr/>
          <p:nvPr/>
        </p:nvGraphicFramePr>
        <p:xfrm>
          <a:off x="385192" y="2623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{399C45AE-D444-49B9-BE7E-1959846D4802}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Action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Create, modify, or delete printers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Printer Driver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Install or remove printer drivers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Printer 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Create/delete local or TCP/IP ports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 Processor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Add/remove print processors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 Monitor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Add/remove language or port monitors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GUID String and Log locations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64-bit: </a:t>
            </a:r>
            <a:r>
              <a:rPr lang="en-US" sz="1800"/>
              <a:t>HKLM\Software\Microsoft\Windows\CurrentVersion\Uninstall\{GUID}</a:t>
            </a:r>
            <a:r>
              <a:rPr b="1" lang="en-US" sz="1800"/>
              <a:t>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32-bit apps on 64-bit OS:  </a:t>
            </a:r>
            <a:r>
              <a:rPr lang="en-US" sz="1800"/>
              <a:t>HKLM\Software\WOW6432Node\Microsoft\Windows\CurrentVersion\Uninstall\{GUID}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System App: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64-bit: C:\Program Files\&lt;AppName&gt;\Logs\...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32-bit: C:\Program Files (x86)\&lt;AppName&gt;\Logs\...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Per-user apps logs: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C:\Users\&lt;UserName&gt;\AppData\Local\&lt;AppName&gt;\Logs\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C:\Users\&lt;UserName&gt;\AppData\Roaming\&lt;AppName&gt;\Logs\	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Windows Batch Script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Batch Script (for Chrome or Edge)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@echo off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start chrome "https://www.example.com"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:: or use Edge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:: start msedge "https://www.example.com"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Save this as open_browser.bat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Place it in: C:\Scripts\open_browser.bat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MS 365 Packaging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Microsoft Office Architecture – </a:t>
            </a:r>
            <a:r>
              <a:rPr lang="en-US" sz="1800"/>
              <a:t>Microsoft Office (now part of Microsoft 365 Apps) is designed with a modular, service-connected architecture that supports flexible packaging and deployment across enterprise environments.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288" name="Google Shape;288;p28"/>
          <p:cNvGraphicFramePr/>
          <p:nvPr/>
        </p:nvGraphicFramePr>
        <p:xfrm>
          <a:off x="381369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{399C45AE-D444-49B9-BE7E-1959846D4802}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Packaging Model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Click-to-Run (C2R)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Streaming-based installer using Office Deployment Tool (ODT)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✅ Primary method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MSI (Windows Installer)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Traditional installer used in older Office versions (Office 2016 and earlier)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❌ Deprecated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MSIX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Modern packaging format for Windows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🔄 In development for Office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MS 365 Packaging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9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When </a:t>
            </a:r>
            <a:r>
              <a:rPr b="1" lang="en-US" sz="1600"/>
              <a:t>Microsoft 365 Apps are installed via Click-to-Run</a:t>
            </a:r>
            <a:r>
              <a:rPr lang="en-US" sz="1600"/>
              <a:t>, the system registers a single unified entry in the Add/Remove Programs list: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Display Name: Microsoft 365 Apps for enterprise or Microsoft Office 365 ProPlus</a:t>
            </a:r>
            <a:endParaRPr sz="16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Publisher: Microsoft Corporation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Version: Reflects the build number (e.g., 16.0.XXXX.XXXX)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Size: Varies depending on installed components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Install Location: Usually under C:\Program Files\Microsoft Office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It’s a container for all Office apps (Word, Excel, PowerPoint, Outlook, etc.)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You cannot uninstall individual apps from this entry unless installed separately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The entry is tied to the Click-to-Run virtualization layer, not traditional MSI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If you’ve excluded apps during deployment (e.g., Access or Publisher), they won’t appear in the Start Menu or be usable—but the Add/Remove entry still shows the full suite name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Registry Location for Program Entry: HKEY_LOCAL_MACHINE\SOFTWARE\Microsoft\Windows\CurrentVersion\Uninstall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       Look for keys with DisplayName like Microsoft 365 Apps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Application Installation Type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0" name="Google Shape;300;p30"/>
          <p:cNvGraphicFramePr/>
          <p:nvPr/>
        </p:nvGraphicFramePr>
        <p:xfrm>
          <a:off x="179512" y="1484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{399C45AE-D444-49B9-BE7E-1959846D4802}</a:tableStyleId>
              </a:tblPr>
              <a:tblGrid>
                <a:gridCol w="1080125"/>
                <a:gridCol w="2160250"/>
                <a:gridCol w="1697400"/>
                <a:gridCol w="1831000"/>
                <a:gridCol w="14608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Context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Runs As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Access Level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Limitations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User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Logged-in user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Limited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Profile-based apps, Store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system access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Admin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Elevated user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(FedEX App Manager)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Full (via UAC)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Manual installs, troubleshooting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Requires user consent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System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SYSTEM account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Full (silent)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Enterprise deployments, Intune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user interaction, no profile data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Context Installation</a:t>
            </a:r>
            <a:endParaRPr/>
          </a:p>
        </p:txBody>
      </p:sp>
      <p:sp>
        <p:nvSpPr>
          <p:cNvPr id="306" name="Google Shape;306;p31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MSI is Compatible for User Context -&gt; Open the .msi and check the Property table: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If ALLUSERS=1, it's a machine-wide install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If ALLUSERS=2 or missing → can be user-level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Verify Installation Location: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Context App Installs To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Per-user - C:\Users\USERNAME\AppData\Local\Programs\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Per-machine -&gt; C:\Program Files\ or “C:\Program Files (x86)”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 txBox="1"/>
          <p:nvPr>
            <p:ph type="title"/>
          </p:nvPr>
        </p:nvSpPr>
        <p:spPr>
          <a:xfrm>
            <a:off x="0" y="-109071"/>
            <a:ext cx="9144000" cy="8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Active Setup Versioning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 txBox="1"/>
          <p:nvPr>
            <p:ph idx="1" type="body"/>
          </p:nvPr>
        </p:nvSpPr>
        <p:spPr>
          <a:xfrm>
            <a:off x="323528" y="980728"/>
            <a:ext cx="8291400" cy="5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Active Setup is a Windows mechanism that allows you to run a command once per user at logon. It’s commonly used to initialize user-specific settings after an application is installed.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It compares registry entries in HKLM and HKCU. If the user’s profile doesn’t have the matching entry, the command is executed.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Registry Structure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Machine Key (HKLM)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reg: HKLM\SOFTWARE\Microsoft\Active Setup\Installed Components\{YourAppGUID}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User Key (HKCU)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reg: HKCU\SOFTWARE\Microsoft\Active Setup\Installed Components\{YourAppGUID}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When a user logs in, Windows checks if the Version in HKCU matches HKLM. If not, it runs the command in StubPath.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/>
          <p:nvPr>
            <p:ph type="title"/>
          </p:nvPr>
        </p:nvSpPr>
        <p:spPr>
          <a:xfrm>
            <a:off x="0" y="-109071"/>
            <a:ext cx="9144000" cy="8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 10 vs Win 11 – App Packaging</a:t>
            </a:r>
            <a:endParaRPr b="1" sz="3200">
              <a:solidFill>
                <a:schemeClr val="lt1"/>
              </a:solidFill>
            </a:endParaRPr>
          </a:p>
        </p:txBody>
      </p:sp>
      <p:graphicFrame>
        <p:nvGraphicFramePr>
          <p:cNvPr id="318" name="Google Shape;318;p33"/>
          <p:cNvGraphicFramePr/>
          <p:nvPr/>
        </p:nvGraphicFramePr>
        <p:xfrm>
          <a:off x="323528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{399C45AE-D444-49B9-BE7E-1959846D4802}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Feature Area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Windows 11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Windows 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User Interface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Fluent Design, centered Start Menu &amp; Taskbar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Classic Start Menu &amp; Taskbar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System Requirements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TPM 2.0, Secure Boot, UEFI, 64-bit only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More lenient; supports older hardware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Microsoft Store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Redesigned, supports Android apps via WSA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Traditional Store, no Android support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Packaging Format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Strong push for </a:t>
                      </a:r>
                      <a:r>
                        <a:rPr b="1" lang="en-US" sz="1600"/>
                        <a:t>MSIX</a:t>
                      </a:r>
                      <a:r>
                        <a:rPr lang="en-US" sz="1600"/>
                        <a:t> adoption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Supports MSI, EXE, and MSIX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Security Model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Enforced hardware-based security (TPM, VBS)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Software-based security still common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AppContainer Support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Enhanced isolation for packaged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Supported but less emphasized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Virtual Desktops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Snap Layouts, improved multitasking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Basic virtual desktop support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Copilot Integration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Built-in AI assistant for productivity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 native AI assistant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0" y="-109071"/>
            <a:ext cx="9144000" cy="8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 10 vs Win 11 – App Packaging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24" name="Google Shape;324;p34"/>
          <p:cNvSpPr txBox="1"/>
          <p:nvPr>
            <p:ph idx="1" type="body"/>
          </p:nvPr>
        </p:nvSpPr>
        <p:spPr>
          <a:xfrm>
            <a:off x="323528" y="980728"/>
            <a:ext cx="8291400" cy="5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MSIX Adoption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11 encourages MSIX for modern deployment, offering: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Clean install/uninstall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Auto-updates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App identity for accessing OS features (e.g., notifications, background tasks)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10 supports MSIX but is more tolerant of legacy formats like MSI and EXE.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Compatibility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11 has stricter hardware requirements (TPM 2.0, Secure Boot), which may affect legacy app deployment.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10 is more forgiving, making it a better target for older enterprise environments.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2021-06-29T16:44:06Z</dcterms:created>
  <dc:creator>Thousif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52bea721-0b4a-4a73-acbe-d1120acc5d9d</vt:lpwstr>
  </property>
  <property fmtid="{D5CDD505-2E9C-101B-9397-08002B2CF9AE}" pid="3" name="HCLClassD6">
    <vt:lpwstr>False</vt:lpwstr>
  </property>
  <property fmtid="{D5CDD505-2E9C-101B-9397-08002B2CF9AE}" pid="4" name="HCLClassification">
    <vt:lpwstr>HCL_Cla5s_P3rs0nalUs3</vt:lpwstr>
  </property>
</Properties>
</file>